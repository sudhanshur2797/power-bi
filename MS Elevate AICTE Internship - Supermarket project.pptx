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3818" autoAdjust="0"/>
  </p:normalViewPr>
  <p:slideViewPr>
    <p:cSldViewPr snapToGrid="0">
      <p:cViewPr>
        <p:scale>
          <a:sx n="58" d="100"/>
          <a:sy n="58" d="100"/>
        </p:scale>
        <p:origin x="988" y="7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udhanshur2797/Power-BI"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4337" y="1316640"/>
            <a:ext cx="4746772" cy="176583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r>
              <a:rPr lang="en-US" sz="3600" kern="1200" dirty="0"/>
              <a:t>Superstore Dashboard Analytics using power BI</a:t>
            </a: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955758"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Sudhanshu ranjan</a:t>
            </a:r>
          </a:p>
          <a:p>
            <a:pPr algn="l">
              <a:spcAft>
                <a:spcPts val="600"/>
              </a:spcAft>
            </a:pPr>
            <a:r>
              <a:rPr lang="en-US" sz="1600" b="1" cap="all" dirty="0"/>
              <a:t>College Name: Gaya college of engineering</a:t>
            </a:r>
          </a:p>
          <a:p>
            <a:pPr algn="l">
              <a:spcAft>
                <a:spcPts val="600"/>
              </a:spcAft>
            </a:pPr>
            <a:r>
              <a:rPr lang="en-US" sz="1600" b="1" cap="all" dirty="0"/>
              <a:t>Department: CSE</a:t>
            </a:r>
          </a:p>
          <a:p>
            <a:pPr algn="l">
              <a:spcAft>
                <a:spcPts val="600"/>
              </a:spcAft>
            </a:pPr>
            <a:r>
              <a:rPr lang="en-US" sz="1600" b="1" cap="all" dirty="0"/>
              <a:t>Email ID: Sudhanshuranjan9102@gmail.com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A person standing in front of a string of lights&#10;&#10;AI-generated content may be incorrect.">
            <a:extLst>
              <a:ext uri="{FF2B5EF4-FFF2-40B4-BE49-F238E27FC236}">
                <a16:creationId xmlns:a16="http://schemas.microsoft.com/office/drawing/2014/main" id="{8082A13D-2657-ABD4-1281-5D6709E20D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8588" y="-608113"/>
            <a:ext cx="4897699" cy="7056000"/>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Retail businesses generate a large amount of sales data daily. However, raw data alone is difficult to understand and analyze. Without proper visualization tools, it becomes challenging to identify trends, analyze product performance, and evaluate regional sales. Therefore, there is a need for a system that can convert raw sales data into meaningful insights for better decision-making.</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IN" sz="1200" b="1" dirty="0">
                <a:latin typeface="Calibri"/>
                <a:ea typeface="Calibri"/>
                <a:cs typeface="Calibri"/>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Gather historical data on bike rentals, including time, date, location, and other relevant factors.</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Utilize real-time data sources, such as weather conditions, events, and holidays, to enhance prediction accuracy.</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Clean and preprocess the collected data to handle missing values, outliers, and inconsistencies.</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Feature engineering to extract relevant features from the data that might impact bike demand.</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Machine Learning Algorithm:</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Implement a machine learning algorithm, such as a time-series forecasting model (e.g., ARIMA, SARIMA, or LSTM), to predict bike counts based on historical patterns.</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Consider incorporating other factors like weather conditions, day of the week, and special events to improve prediction accuracy.</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Develop a user-friendly interface or application that provides real-time predictions for bike counts at different hours.</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Deploy the solution on a scalable and reliable platform, considering factors like server infrastructure, response time, and user accessibility.</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Assess the model's performance using appropriate metrics such as Mean Absolute Error (MAE), Root Mean Squared Error (RMSE), or other relevant metrics.</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Fine-tune the model based on feedback and continuous monitoring of prediction accuracy.</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latin typeface="Franklin Gothic Book"/>
              </a:rPr>
              <a:t>Result:</a:t>
            </a: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IN" sz="2200" b="1">
                <a:latin typeface="Franklin Gothic Book"/>
              </a:rPr>
              <a:t>The "System Approach" section outlines the overall strategy and methodology for developing and implementing the rental bike prediction system. Here's a suggested structure for this section:</a:t>
            </a:r>
            <a:endParaRPr lang="en-US" sz="2200">
              <a:latin typeface="Franklin Gothic Book"/>
            </a:endParaRPr>
          </a:p>
          <a:p>
            <a:pPr marL="305435" indent="-305435">
              <a:spcBef>
                <a:spcPct val="20000"/>
              </a:spcBef>
              <a:spcAft>
                <a:spcPts val="600"/>
              </a:spcAft>
              <a:buFont typeface="Arial"/>
              <a:buChar char="•"/>
            </a:pPr>
            <a:r>
              <a:rPr lang="en-IN" sz="2200" b="1">
                <a:latin typeface="Franklin Gothic Book"/>
              </a:rPr>
              <a:t>System requirements</a:t>
            </a:r>
            <a:endParaRPr lang="en-US" sz="2200">
              <a:latin typeface="Franklin Gothic Book"/>
            </a:endParaRPr>
          </a:p>
          <a:p>
            <a:pPr marL="305435" indent="-305435">
              <a:spcBef>
                <a:spcPct val="20000"/>
              </a:spcBef>
              <a:spcAft>
                <a:spcPts val="600"/>
              </a:spcAft>
              <a:buFont typeface="Arial"/>
              <a:buChar char="•"/>
            </a:pPr>
            <a:r>
              <a:rPr lang="en-IN" sz="2200" b="1">
                <a:latin typeface="Franklin Gothic Book"/>
              </a:rPr>
              <a:t>Library required to build the model</a:t>
            </a:r>
            <a:endParaRPr lang="en-GB" sz="220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305435" indent="-305435">
              <a:spcBef>
                <a:spcPct val="20000"/>
              </a:spcBef>
              <a:spcAft>
                <a:spcPts val="600"/>
              </a:spcAft>
              <a:buFont typeface="Arial"/>
              <a:buChar char="•"/>
            </a:pPr>
            <a:r>
              <a:rPr lang="en-IN" sz="1500">
                <a:latin typeface="Franklin Gothic Book"/>
              </a:rPr>
              <a:t>In the Algorithm section, describe the machine learning algorithm chosen for predicting bike counts. Here's an example structure for this section:</a:t>
            </a:r>
          </a:p>
          <a:p>
            <a:pPr marL="305435" indent="-305435">
              <a:spcBef>
                <a:spcPct val="20000"/>
              </a:spcBef>
              <a:spcAft>
                <a:spcPts val="600"/>
              </a:spcAft>
              <a:buFont typeface="Arial"/>
              <a:buChar char="•"/>
            </a:pPr>
            <a:r>
              <a:rPr lang="en-IN" sz="1500" b="1">
                <a:latin typeface="Franklin Gothic Book"/>
              </a:rPr>
              <a:t>Algorithm Selection:</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Provide a brief overview of the chosen algorithm (e.g., time-series forecasting model, like ARIMA or LSTM) and justify its selection based on the problem statement and data characteristics.</a:t>
            </a:r>
          </a:p>
          <a:p>
            <a:pPr marL="305435" indent="-305435">
              <a:spcBef>
                <a:spcPct val="20000"/>
              </a:spcBef>
              <a:spcAft>
                <a:spcPts val="600"/>
              </a:spcAft>
              <a:buFont typeface="Arial"/>
              <a:buChar char="•"/>
            </a:pPr>
            <a:r>
              <a:rPr lang="en-IN" sz="1500" b="1">
                <a:latin typeface="Franklin Gothic Book"/>
              </a:rPr>
              <a:t>Data Input:</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Specify the input features used by the algorithm, such as historical bike rental data, weather conditions, day of the week, and any other relevant factors.</a:t>
            </a:r>
          </a:p>
          <a:p>
            <a:pPr marL="305435" indent="-305435">
              <a:spcBef>
                <a:spcPct val="20000"/>
              </a:spcBef>
              <a:spcAft>
                <a:spcPts val="600"/>
              </a:spcAft>
              <a:buFont typeface="Arial"/>
              <a:buChar char="•"/>
            </a:pPr>
            <a:r>
              <a:rPr lang="en-IN" sz="1500" b="1">
                <a:latin typeface="Franklin Gothic Book"/>
              </a:rPr>
              <a:t>Training Process:</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Explain how the algorithm is trained using historical data. Highlight any specific considerations or techniques employed, such as cross-validation or hyperparameter tuning.</a:t>
            </a:r>
          </a:p>
          <a:p>
            <a:pPr marL="305435" indent="-305435">
              <a:spcBef>
                <a:spcPct val="20000"/>
              </a:spcBef>
              <a:spcAft>
                <a:spcPts val="600"/>
              </a:spcAft>
              <a:buFont typeface="Arial"/>
              <a:buChar char="•"/>
            </a:pPr>
            <a:r>
              <a:rPr lang="en-IN" sz="1500" b="1">
                <a:latin typeface="Franklin Gothic Book"/>
              </a:rPr>
              <a:t>Prediction Process:</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Detail how the trained algorithm makes predictions for future bike counts. Discuss any real-time data inputs considered during the prediction phase.</a:t>
            </a:r>
            <a:endParaRPr lang="en-GB" sz="150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br>
              <a:rPr lang="en-US" sz="4000" b="1" cap="all" dirty="0">
                <a:latin typeface="Arial"/>
                <a:cs typeface="Arial"/>
              </a:rPr>
            </a:br>
            <a:r>
              <a:rPr lang="en-US" sz="2200" dirty="0"/>
              <a:t>The developed dashboard successfully visualizes sales and profit data of the Superstore dataset.</a:t>
            </a:r>
            <a:endParaRPr lang="en-US" sz="4000" dirty="0"/>
          </a:p>
        </p:txBody>
      </p:sp>
      <p:pic>
        <p:nvPicPr>
          <p:cNvPr id="5" name="Content Placeholder 4" descr="A screenshot of a computer&#10;&#10;AI-generated content may be incorrect.">
            <a:extLst>
              <a:ext uri="{FF2B5EF4-FFF2-40B4-BE49-F238E27FC236}">
                <a16:creationId xmlns:a16="http://schemas.microsoft.com/office/drawing/2014/main" id="{8E1109A2-2570-0020-F40C-256AB9C863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4594" y="1928813"/>
            <a:ext cx="7557911" cy="4251325"/>
          </a:xfrm>
        </p:spPr>
      </p:pic>
      <p:pic>
        <p:nvPicPr>
          <p:cNvPr id="7" name="Picture 6" descr="A screenshot of a computer">
            <a:extLst>
              <a:ext uri="{FF2B5EF4-FFF2-40B4-BE49-F238E27FC236}">
                <a16:creationId xmlns:a16="http://schemas.microsoft.com/office/drawing/2014/main" id="{3061EF96-10DD-E75C-DFA7-75508CAFE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608" y="1854385"/>
            <a:ext cx="9144002" cy="4763387"/>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400" dirty="0"/>
              <a:t>The Power BI dashboard provides a clear visualization of sales performance and business trends. It helps identify profitable regions, high-performing product categories, and sales patterns over time. This project demonstrates how data visualization tools can transform raw business data into meaningful insights that support decision-making.</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buNone/>
            </a:pPr>
            <a:r>
              <a:rPr lang="en-US" sz="2400" dirty="0"/>
              <a:t>The project can be improved in the future by:</a:t>
            </a:r>
          </a:p>
          <a:p>
            <a:r>
              <a:rPr lang="en-US" sz="2400" dirty="0"/>
              <a:t>Integrating real-time sales data</a:t>
            </a:r>
          </a:p>
          <a:p>
            <a:r>
              <a:rPr lang="en-US" sz="2400" dirty="0"/>
              <a:t>Applying machine learning models for sales prediction</a:t>
            </a:r>
          </a:p>
          <a:p>
            <a:r>
              <a:rPr lang="en-US" sz="2400" dirty="0"/>
              <a:t>Connecting dashboards with cloud databases</a:t>
            </a:r>
          </a:p>
          <a:p>
            <a:r>
              <a:rPr lang="en-US" sz="2400" dirty="0"/>
              <a:t>Adding advanced analytics using Python or R</a:t>
            </a:r>
          </a:p>
          <a:p>
            <a:r>
              <a:rPr lang="en-US" sz="2400" dirty="0"/>
              <a:t>Developing mobile-friendly dashboards</a:t>
            </a: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457200" indent="-457200">
              <a:buFont typeface="+mj-lt"/>
              <a:buAutoNum type="arabicPeriod"/>
            </a:pPr>
            <a:r>
              <a:rPr lang="en-IN" sz="2400" dirty="0"/>
              <a:t>Microsoft Power BI Documentation</a:t>
            </a:r>
          </a:p>
          <a:p>
            <a:pPr marL="457200" indent="-457200">
              <a:buFont typeface="+mj-lt"/>
              <a:buAutoNum type="arabicPeriod"/>
            </a:pPr>
            <a:r>
              <a:rPr lang="en-IN" sz="2400" dirty="0"/>
              <a:t>Superstore Sales Dataset</a:t>
            </a:r>
          </a:p>
          <a:p>
            <a:pPr marL="457200" indent="-457200">
              <a:buFont typeface="+mj-lt"/>
              <a:buAutoNum type="arabicPeriod"/>
            </a:pPr>
            <a:r>
              <a:rPr lang="en-IN" sz="2400" dirty="0"/>
              <a:t>Online resources on data visualization techniques</a:t>
            </a:r>
          </a:p>
          <a:p>
            <a:pPr marL="457200" indent="-457200">
              <a:buFont typeface="+mj-lt"/>
              <a:buAutoNum type="arabicPeriod"/>
            </a:pPr>
            <a:r>
              <a:rPr lang="en-US" sz="2400" dirty="0"/>
              <a:t>Tutorials and learning materials related to Power BI</a:t>
            </a:r>
            <a:endParaRPr lang="en-IN" sz="2200" dirty="0">
              <a:latin typeface="Franklin Gothic Book"/>
            </a:endParaRPr>
          </a:p>
          <a:p>
            <a:pPr marL="0" indent="0">
              <a:buNone/>
            </a:pPr>
            <a:r>
              <a:rPr lang="en-IN" sz="2200" dirty="0">
                <a:latin typeface="Franklin Gothic Book"/>
              </a:rPr>
              <a:t>GitHub Link</a:t>
            </a:r>
            <a:r>
              <a:rPr lang="en-IN" sz="2200">
                <a:latin typeface="Franklin Gothic Book"/>
              </a:rPr>
              <a:t>:</a:t>
            </a:r>
            <a:r>
              <a:rPr lang="en-IN" sz="2200">
                <a:solidFill>
                  <a:srgbClr val="0070C0"/>
                </a:solidFill>
                <a:latin typeface="Franklin Gothic Book"/>
              </a:rPr>
              <a:t> </a:t>
            </a:r>
            <a:r>
              <a:rPr lang="en-IN" sz="2200" u="sng">
                <a:solidFill>
                  <a:srgbClr val="0070C0"/>
                </a:solidFill>
                <a:latin typeface="Franklin Gothic Book"/>
                <a:hlinkClick r:id="rId2"/>
              </a:rPr>
              <a:t>Link</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741</Words>
  <Application>Microsoft Office PowerPoint</Application>
  <PresentationFormat>Widescreen</PresentationFormat>
  <Paragraphs>70</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 The developed dashboard successfully visualizes sales and profit data of the Superstore dataset.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Sudhanshu ranjan</cp:lastModifiedBy>
  <cp:revision>103</cp:revision>
  <dcterms:created xsi:type="dcterms:W3CDTF">2024-05-21T11:55:07Z</dcterms:created>
  <dcterms:modified xsi:type="dcterms:W3CDTF">2026-03-14T13:39:02Z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